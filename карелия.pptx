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D11"/>
    <a:srgbClr val="365C36"/>
    <a:srgbClr val="253F25"/>
    <a:srgbClr val="11D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DEEEA-EC51-4300-D64B-C4B6C67A3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8DD2CBE-A2D2-4F87-14EE-354F021BA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758324-CF0B-0B3C-EE24-7787CF7B1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DCA9F-49B1-B801-B4EA-E88BE1E4B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F2D1E5-7852-1BE5-CF1F-BEEC014A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724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DC84E-4D2C-A205-12E2-54BFFD3F1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BF3694-8301-CAD1-1E55-A23832FB2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CC4E5DD-798B-F07C-6ABD-B47EA5AF0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272B9A-9C78-5BD0-28B7-AF81A8C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F36BFC-D92D-34B6-29DB-35332D39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2174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9141D7-509B-06B3-28E1-99B27760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FC1301-1F25-4FFE-3F0D-821EE71AA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49E60E-F12A-7772-8DE8-96DD6720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103DE0-9890-9B00-4BA0-3AA06317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4965E9-BC56-9FB8-82C1-C77D93C9C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73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2ECE6-BCD9-0369-690C-97547A889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89CD58-C0F9-02EB-5256-3A3DEDC3B6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8E4573B-65D5-953F-126C-838EB3BFF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BA85B0-586C-6EB9-C545-A18E18302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5DD86C-C644-BD30-7E06-51BC93BC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32E6D4-3971-C890-DFC8-0855EAB04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089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D16B9-F5A0-0B19-52E6-ACD28A6BD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968FDD-CC91-BC07-51C1-32DB790D0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76967F-A972-D23F-108D-F36687386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E588F7A-CB53-F53B-054C-C457CC2339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F92C586-E220-D389-AEE8-7B0CCE000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95B079F-A4C4-71F8-C12A-E2A557B3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DD06961-846E-7D12-D59B-30C827FCD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F56E2D-9AB5-4DDF-7759-3007BE333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655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82A067-DF3C-3428-08AE-FA235FC63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44B4293-0CC0-95D7-F38C-4891266D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A6E5FC-2572-184A-6D75-9E3C79A8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8EBE8AD-1F4E-F7ED-A87A-BAE35B4D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5737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9486793-1AA4-4F24-070D-939FC02D0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E8EF7BB-EC9C-6DC6-1C02-FD27F080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F2C01D-11B1-44E7-FADD-B92864AF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697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703AC9-D6B9-4A14-F988-31E10C9F8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89E1FC-7CF3-CD4B-6BF4-0D52D18A4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D82C9ED-4B39-87E9-1379-350B8BDE4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86278F1-98A6-6232-3605-4072159F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D0C5DA-68D8-7A6D-1655-D9A30D6D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48033AB-3A7B-0851-77F0-F0D7AF1B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558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95ADCB-C835-C573-A025-F75511A5C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4656701-643E-2EBC-E4A7-8A5C0B4F2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9FEADE-4C2D-82C4-DB1A-2C028838F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065A17-D56F-3990-EECC-F1290689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B91FB89-90B8-FD62-639F-7F4D854C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3DE81-8BDE-F171-6B5D-90E1B5AC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268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4A277D-34D5-DA83-FF98-B07E59C62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841951A-0307-C671-5B4F-699DBC23AE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4F91C4-C95B-D9E6-66F9-9ABEC880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84CC69-814C-E327-5DB4-3CB6969B1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7014E6-9BAD-A969-F4E5-931AA0FFD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05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3FE226-B746-9F92-8F4A-8BCAC2DA41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5A600F-01C7-23A7-4B30-0B56C4FE3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02CC87-5E72-092D-4AC8-3E32603DC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8B61BD-8FE3-803E-6C4D-44E0A83A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8EABBA-78AF-2603-CBEB-9AA38088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656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B89A09-0801-8DE9-8A00-1982791FD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9A3B8-9527-0554-608E-D2C4682B0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4583ED-17BF-876C-6D67-246202FEE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5EB8E9-1796-4830-8B9A-3DCDB6D6AABF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35A47CC-28BB-DE9C-0FF0-825674C92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647041-E856-60A2-6C3F-3D1638F46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3EC84-1FA4-4ECC-86AF-3C2006522D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91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D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EFD418A2-70AC-4290-A8EE-77655C67D7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2700AE5-8AF4-511B-D316-5518A6CC5AF9}"/>
              </a:ext>
            </a:extLst>
          </p:cNvPr>
          <p:cNvSpPr/>
          <p:nvPr/>
        </p:nvSpPr>
        <p:spPr>
          <a:xfrm>
            <a:off x="0" y="0"/>
            <a:ext cx="8420100" cy="6858000"/>
          </a:xfrm>
          <a:prstGeom prst="rect">
            <a:avLst/>
          </a:prstGeom>
          <a:gradFill flip="none" rotWithShape="1">
            <a:gsLst>
              <a:gs pos="100000">
                <a:srgbClr val="203720">
                  <a:alpha val="0"/>
                </a:srgbClr>
              </a:gs>
              <a:gs pos="84000">
                <a:srgbClr val="253F25">
                  <a:alpha val="19000"/>
                </a:srgbClr>
              </a:gs>
              <a:gs pos="44000">
                <a:srgbClr val="1B2E1B">
                  <a:alpha val="89000"/>
                </a:srgbClr>
              </a:gs>
              <a:gs pos="0">
                <a:srgbClr val="162616"/>
              </a:gs>
              <a:gs pos="6000">
                <a:srgbClr val="111D1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09ACC0-E664-C13F-F509-142A913C140E}"/>
              </a:ext>
            </a:extLst>
          </p:cNvPr>
          <p:cNvSpPr txBox="1"/>
          <p:nvPr/>
        </p:nvSpPr>
        <p:spPr>
          <a:xfrm>
            <a:off x="177800" y="2459504"/>
            <a:ext cx="6273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РЕСПУБЛИКА КАРЕЛИЯ</a:t>
            </a:r>
          </a:p>
        </p:txBody>
      </p:sp>
    </p:spTree>
    <p:extLst>
      <p:ext uri="{BB962C8B-B14F-4D97-AF65-F5344CB8AC3E}">
        <p14:creationId xmlns:p14="http://schemas.microsoft.com/office/powerpoint/2010/main" val="60823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12C856A-5261-5666-C14E-80F48DA1B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099" y="1309757"/>
            <a:ext cx="3208651" cy="5112973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AA2083B-16DF-ED12-26B4-5441BE5C8BD2}"/>
              </a:ext>
            </a:extLst>
          </p:cNvPr>
          <p:cNvSpPr/>
          <p:nvPr/>
        </p:nvSpPr>
        <p:spPr>
          <a:xfrm>
            <a:off x="0" y="215900"/>
            <a:ext cx="88646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C44F5-733E-6295-3E4C-0C930A869E4B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Карельская Республика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DDD74-437E-91B8-E966-62B398AE5F2F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02/12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5C227-9FE7-CC73-7A15-6B5B74C4253F}"/>
              </a:ext>
            </a:extLst>
          </p:cNvPr>
          <p:cNvSpPr txBox="1"/>
          <p:nvPr/>
        </p:nvSpPr>
        <p:spPr>
          <a:xfrm>
            <a:off x="120650" y="1704246"/>
            <a:ext cx="5784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Имеет свой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флаг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герб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гимн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 </a:t>
            </a:r>
            <a:r>
              <a:rPr lang="ru-RU" sz="2000" b="1" dirty="0">
                <a:latin typeface="Arial" panose="020B0604020202020204" pitchFamily="34" charset="0"/>
                <a:cs typeface="Arial" panose="020B0604020202020204" pitchFamily="34" charset="0"/>
              </a:rPr>
              <a:t>конституцию</a:t>
            </a:r>
          </a:p>
        </p:txBody>
      </p:sp>
      <p:pic>
        <p:nvPicPr>
          <p:cNvPr id="7170" name="Picture 2" descr="Picture background">
            <a:extLst>
              <a:ext uri="{FF2B5EF4-FFF2-40B4-BE49-F238E27FC236}">
                <a16:creationId xmlns:a16="http://schemas.microsoft.com/office/drawing/2014/main" id="{F0332B53-FB98-4863-3EAB-697D15EAD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82" y="2627502"/>
            <a:ext cx="2682388" cy="1967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9858021-EC27-986E-557F-FACAD5E2E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2242" y="4146175"/>
            <a:ext cx="1716269" cy="2367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Picture background">
            <a:extLst>
              <a:ext uri="{FF2B5EF4-FFF2-40B4-BE49-F238E27FC236}">
                <a16:creationId xmlns:a16="http://schemas.microsoft.com/office/drawing/2014/main" id="{CBC5F4CB-9A37-A3ED-9C75-165D9EB3B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6983" y="2627502"/>
            <a:ext cx="2451031" cy="2369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03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6219328-20E1-726E-6874-EAF74E90EB70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5EDFBB-37F6-BB0E-BC2B-D4D9C2921BA5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Устное народное творчество</a:t>
            </a:r>
          </a:p>
        </p:txBody>
      </p:sp>
      <p:pic>
        <p:nvPicPr>
          <p:cNvPr id="4" name="Picture 8" descr="Picture background">
            <a:extLst>
              <a:ext uri="{FF2B5EF4-FFF2-40B4-BE49-F238E27FC236}">
                <a16:creationId xmlns:a16="http://schemas.microsoft.com/office/drawing/2014/main" id="{F084F8AE-494F-E5BB-D0A0-BBD1E168A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025" y="1651000"/>
            <a:ext cx="3533775" cy="471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8A352E-BFE8-1DA8-0B57-78BA849F0644}"/>
              </a:ext>
            </a:extLst>
          </p:cNvPr>
          <p:cNvSpPr txBox="1"/>
          <p:nvPr/>
        </p:nvSpPr>
        <p:spPr>
          <a:xfrm>
            <a:off x="4432300" y="2421799"/>
            <a:ext cx="704850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«Калевала» — карело-финский поэтический эпос, который состоит из пятидесяти рун (песен), среди которых легенды о создании мира, о древних богоподобных героях и колдунах, о подвигах и свершениях.</a:t>
            </a:r>
          </a:p>
          <a:p>
            <a:endParaRPr lang="ru-RU" sz="2000" dirty="0">
              <a:solidFill>
                <a:srgbClr val="111D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Калевала — это мифическая страна. Главный герой поэмы — старый </a:t>
            </a:r>
            <a:r>
              <a:rPr lang="ru-RU" sz="2000" dirty="0" err="1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Вяйнямёйнен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первый человек на Земле. Он играет на своей кантеле и одолевает врагов, чаще всего с помощью колдовства.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D67430-0C97-E24C-230C-DCD36A0FBFA4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03/12</a:t>
            </a:r>
          </a:p>
        </p:txBody>
      </p:sp>
    </p:spTree>
    <p:extLst>
      <p:ext uri="{BB962C8B-B14F-4D97-AF65-F5344CB8AC3E}">
        <p14:creationId xmlns:p14="http://schemas.microsoft.com/office/powerpoint/2010/main" val="401953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E3FF0C4-3092-641B-F7E6-328E1BA6F73A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8E5507-9EDC-F1BB-1DDB-B93DA8AD9338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Народная одежда</a:t>
            </a: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343B824-9D16-01F3-A7F2-B1ED6610D55F}"/>
              </a:ext>
            </a:extLst>
          </p:cNvPr>
          <p:cNvCxnSpPr>
            <a:cxnSpLocks/>
          </p:cNvCxnSpPr>
          <p:nvPr/>
        </p:nvCxnSpPr>
        <p:spPr>
          <a:xfrm>
            <a:off x="6400800" y="1435100"/>
            <a:ext cx="0" cy="5181600"/>
          </a:xfrm>
          <a:prstGeom prst="line">
            <a:avLst/>
          </a:prstGeom>
          <a:ln w="38100">
            <a:solidFill>
              <a:srgbClr val="111D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1683C46-D37B-AAFD-6D40-32940F27B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938" y="1435100"/>
            <a:ext cx="2781886" cy="41656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CB7963-9CF0-0AE9-6885-6F5A72ABB74E}"/>
              </a:ext>
            </a:extLst>
          </p:cNvPr>
          <p:cNvSpPr txBox="1"/>
          <p:nvPr/>
        </p:nvSpPr>
        <p:spPr>
          <a:xfrm>
            <a:off x="1938631" y="5910480"/>
            <a:ext cx="222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Женский костюм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B65A7-D200-7353-0D67-CCCB3AC1E20C}"/>
              </a:ext>
            </a:extLst>
          </p:cNvPr>
          <p:cNvSpPr txBox="1"/>
          <p:nvPr/>
        </p:nvSpPr>
        <p:spPr>
          <a:xfrm>
            <a:off x="8140993" y="5910480"/>
            <a:ext cx="22224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Мужской костюм</a:t>
            </a:r>
          </a:p>
        </p:txBody>
      </p:sp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3C5D6AF8-8938-531F-37AE-FADFC73A7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89" r="31995"/>
          <a:stretch>
            <a:fillRect/>
          </a:stretch>
        </p:blipFill>
        <p:spPr bwMode="auto">
          <a:xfrm>
            <a:off x="8331495" y="1466180"/>
            <a:ext cx="1841493" cy="41345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2EEEC1-2947-20DE-632E-7F3CB8636CD6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04/12</a:t>
            </a:r>
          </a:p>
        </p:txBody>
      </p:sp>
    </p:spTree>
    <p:extLst>
      <p:ext uri="{BB962C8B-B14F-4D97-AF65-F5344CB8AC3E}">
        <p14:creationId xmlns:p14="http://schemas.microsoft.com/office/powerpoint/2010/main" val="207599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8EDF377-7D3A-3B7A-2861-957C3DAC7E3F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4EDF0E-9CC1-C6AE-A157-0BBDFEEEEB85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Карельское жилище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AAF0392-D530-BCC0-5AA6-D8D22B0C18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321"/>
          <a:stretch>
            <a:fillRect/>
          </a:stretch>
        </p:blipFill>
        <p:spPr bwMode="auto">
          <a:xfrm>
            <a:off x="586849" y="2547568"/>
            <a:ext cx="4744501" cy="39658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06FD4E8-6446-B448-435C-1C35A310AF7A}"/>
              </a:ext>
            </a:extLst>
          </p:cNvPr>
          <p:cNvSpPr/>
          <p:nvPr/>
        </p:nvSpPr>
        <p:spPr>
          <a:xfrm>
            <a:off x="0" y="1483334"/>
            <a:ext cx="5943600" cy="7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9EB21B-4A6A-7628-9616-6B11D64AA2D3}"/>
              </a:ext>
            </a:extLst>
          </p:cNvPr>
          <p:cNvSpPr txBox="1"/>
          <p:nvPr/>
        </p:nvSpPr>
        <p:spPr>
          <a:xfrm>
            <a:off x="120650" y="1510391"/>
            <a:ext cx="2838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Снаружи</a:t>
            </a:r>
            <a:endParaRPr lang="ru-RU" sz="3200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3E8314-DE18-22BD-59FB-482E40E1DF2C}"/>
              </a:ext>
            </a:extLst>
          </p:cNvPr>
          <p:cNvSpPr/>
          <p:nvPr/>
        </p:nvSpPr>
        <p:spPr>
          <a:xfrm>
            <a:off x="5943600" y="5751443"/>
            <a:ext cx="6248400" cy="762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3A50C-BE04-6A0D-1692-C9365F19D664}"/>
              </a:ext>
            </a:extLst>
          </p:cNvPr>
          <p:cNvSpPr txBox="1"/>
          <p:nvPr/>
        </p:nvSpPr>
        <p:spPr>
          <a:xfrm>
            <a:off x="9800700" y="5778500"/>
            <a:ext cx="2838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Внутри</a:t>
            </a:r>
          </a:p>
        </p:txBody>
      </p:sp>
      <p:pic>
        <p:nvPicPr>
          <p:cNvPr id="8194" name="Picture 2" descr="Picture background">
            <a:extLst>
              <a:ext uri="{FF2B5EF4-FFF2-40B4-BE49-F238E27FC236}">
                <a16:creationId xmlns:a16="http://schemas.microsoft.com/office/drawing/2014/main" id="{39D3C1B7-621A-C483-9DC8-8203AA865F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04"/>
          <a:stretch>
            <a:fillRect/>
          </a:stretch>
        </p:blipFill>
        <p:spPr bwMode="auto">
          <a:xfrm>
            <a:off x="6261626" y="2218277"/>
            <a:ext cx="5343525" cy="3279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0414DD5-BD25-5E18-5A57-9334787991D9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05/12</a:t>
            </a:r>
          </a:p>
        </p:txBody>
      </p:sp>
    </p:spTree>
    <p:extLst>
      <p:ext uri="{BB962C8B-B14F-4D97-AF65-F5344CB8AC3E}">
        <p14:creationId xmlns:p14="http://schemas.microsoft.com/office/powerpoint/2010/main" val="2047492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icture background">
            <a:extLst>
              <a:ext uri="{FF2B5EF4-FFF2-40B4-BE49-F238E27FC236}">
                <a16:creationId xmlns:a16="http://schemas.microsoft.com/office/drawing/2014/main" id="{ACE9B8E9-265A-5730-18F9-5F205216C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4" y="1833630"/>
            <a:ext cx="3594100" cy="239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3A7FAAC-ED0F-2A3F-CE46-E6823EA29F01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4968F8-6E17-35AF-0D45-83C739C4900B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Кухня. Традиционные блюда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9F073-1296-149E-3AE7-1631BF56673A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06/12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2D735F-0F53-428A-B699-E18EA8D39489}"/>
              </a:ext>
            </a:extLst>
          </p:cNvPr>
          <p:cNvSpPr txBox="1"/>
          <p:nvPr/>
        </p:nvSpPr>
        <p:spPr>
          <a:xfrm>
            <a:off x="280194" y="4574451"/>
            <a:ext cx="40322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Калитки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— одно из традиционных блюд карельской кухни, представляющее собой открытые пирожки из ржаного пресного теста с различными начинками.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7A3AA-2F2A-D443-72B9-361EB19DB80E}"/>
              </a:ext>
            </a:extLst>
          </p:cNvPr>
          <p:cNvSpPr txBox="1"/>
          <p:nvPr/>
        </p:nvSpPr>
        <p:spPr>
          <a:xfrm>
            <a:off x="4491038" y="1833630"/>
            <a:ext cx="39830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Карельская уха 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со сливками называется </a:t>
            </a:r>
            <a:r>
              <a:rPr lang="ru-RU" sz="2000" dirty="0" err="1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Калакейтто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Отличается добавлением жирных сливок, что придаёт супу нежность и раскрывает рыбный вкус.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4D6326D8-5144-4D0F-F880-BB88991D3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038" y="4071591"/>
            <a:ext cx="3594101" cy="2441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1B4D6D-9A63-782B-E2DF-5061B41C9948}"/>
              </a:ext>
            </a:extLst>
          </p:cNvPr>
          <p:cNvSpPr txBox="1"/>
          <p:nvPr/>
        </p:nvSpPr>
        <p:spPr>
          <a:xfrm>
            <a:off x="8474076" y="4574451"/>
            <a:ext cx="371792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111D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Карельский рыбник </a:t>
            </a:r>
            <a:r>
              <a:rPr lang="ru-RU" sz="2000" i="0" dirty="0">
                <a:solidFill>
                  <a:srgbClr val="111D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— это закрытый пирог из ржаного или смешанного теста с сочной рыбной начинкой.</a:t>
            </a:r>
            <a:endParaRPr lang="ru-RU" sz="2000" dirty="0">
              <a:solidFill>
                <a:srgbClr val="111D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7EF3B9E-1A66-FAC7-0E9B-D292EF843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133" y="2062167"/>
            <a:ext cx="3514423" cy="1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30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0FB51C9-8329-CB10-0038-B90102001532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767C5-9791-893F-C6AC-992CA54ED6F7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Развитие туризма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5B0905-C311-1B7C-44E8-B8745DD5B1D0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07/12</a:t>
            </a:r>
          </a:p>
        </p:txBody>
      </p:sp>
      <p:pic>
        <p:nvPicPr>
          <p:cNvPr id="12290" name="Picture 2" descr="Picture background">
            <a:extLst>
              <a:ext uri="{FF2B5EF4-FFF2-40B4-BE49-F238E27FC236}">
                <a16:creationId xmlns:a16="http://schemas.microsoft.com/office/drawing/2014/main" id="{CA1578C0-4CC5-3BD6-83F2-51E9902FEE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046" y="1508425"/>
            <a:ext cx="3665103" cy="21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Picture background">
            <a:extLst>
              <a:ext uri="{FF2B5EF4-FFF2-40B4-BE49-F238E27FC236}">
                <a16:creationId xmlns:a16="http://schemas.microsoft.com/office/drawing/2014/main" id="{31C54AA1-0B2E-38CF-70DC-70B70B510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6227" y="1508425"/>
            <a:ext cx="2285123" cy="3046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Picture background">
            <a:extLst>
              <a:ext uri="{FF2B5EF4-FFF2-40B4-BE49-F238E27FC236}">
                <a16:creationId xmlns:a16="http://schemas.microsoft.com/office/drawing/2014/main" id="{F98B223F-9A06-0041-693A-A748A63150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4104" y="5117270"/>
            <a:ext cx="2287245" cy="152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8" name="Picture 10" descr="Picture background">
            <a:extLst>
              <a:ext uri="{FF2B5EF4-FFF2-40B4-BE49-F238E27FC236}">
                <a16:creationId xmlns:a16="http://schemas.microsoft.com/office/drawing/2014/main" id="{349CF073-868A-C68A-66AB-96D613CA6F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002" y="4170732"/>
            <a:ext cx="1758147" cy="234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300" name="Picture 12" descr="Picture background">
            <a:extLst>
              <a:ext uri="{FF2B5EF4-FFF2-40B4-BE49-F238E27FC236}">
                <a16:creationId xmlns:a16="http://schemas.microsoft.com/office/drawing/2014/main" id="{B6D7820E-3078-1839-1CEF-94D5E8421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2902" y="4173235"/>
            <a:ext cx="1758148" cy="2344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8884D8-AE65-7B03-0BE5-7BA1D874A05F}"/>
              </a:ext>
            </a:extLst>
          </p:cNvPr>
          <p:cNvSpPr txBox="1"/>
          <p:nvPr/>
        </p:nvSpPr>
        <p:spPr>
          <a:xfrm>
            <a:off x="215900" y="1797784"/>
            <a:ext cx="52522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 января по август 2025 года турпоток в Карелию увеличился на 49% по сравнению с тем же периодом 2024 года, а по прогнозам, в 2026 году туристический поток в Карелии вырастет на 10%.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106167-DD80-8D0C-66C5-220B5C251110}"/>
              </a:ext>
            </a:extLst>
          </p:cNvPr>
          <p:cNvSpPr txBox="1"/>
          <p:nvPr/>
        </p:nvSpPr>
        <p:spPr>
          <a:xfrm>
            <a:off x="215900" y="3997759"/>
            <a:ext cx="46989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Основные направления туризма: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Активный отдых: пешие походы, маршруты по рекам, лыжные туры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Природный туризм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Культурно – познавательный туризм по главным достопримечательностям Карелии</a:t>
            </a:r>
          </a:p>
        </p:txBody>
      </p:sp>
    </p:spTree>
    <p:extLst>
      <p:ext uri="{BB962C8B-B14F-4D97-AF65-F5344CB8AC3E}">
        <p14:creationId xmlns:p14="http://schemas.microsoft.com/office/powerpoint/2010/main" val="193669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6A4650-7BFE-33C8-1325-F3FE93964974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02786-DCD8-F74C-381E-669DC8AEEB05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Карельский мрамор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7ECB2-6659-F5A6-804F-9E5333AE8BFE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08/12</a:t>
            </a: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0B80A9E-DF45-C78B-6FB1-A597EE9042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t="66" r="24254"/>
          <a:stretch>
            <a:fillRect/>
          </a:stretch>
        </p:blipFill>
        <p:spPr bwMode="auto">
          <a:xfrm>
            <a:off x="228600" y="1714500"/>
            <a:ext cx="5156200" cy="453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43DCBB-4419-48D1-7EA0-7C9A9EF16A1F}"/>
              </a:ext>
            </a:extLst>
          </p:cNvPr>
          <p:cNvSpPr txBox="1"/>
          <p:nvPr/>
        </p:nvSpPr>
        <p:spPr>
          <a:xfrm>
            <a:off x="5702300" y="2857271"/>
            <a:ext cx="5892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Карельский мрамор — один из самых известных и ценных видов мрамора в России, который добывают в Карелии. Он отличается разнообразием оттенков, прочностью и долговечностью, что делает его востребованным в архитектуре, скульптуре и интерьере.</a:t>
            </a:r>
          </a:p>
        </p:txBody>
      </p:sp>
    </p:spTree>
    <p:extLst>
      <p:ext uri="{BB962C8B-B14F-4D97-AF65-F5344CB8AC3E}">
        <p14:creationId xmlns:p14="http://schemas.microsoft.com/office/powerpoint/2010/main" val="34247372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4E7384-B852-3953-AA2C-E4F2189C93B7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296364-4AD7-6B32-9606-0602AD5962D9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Православный центр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5F918C-6545-D7F7-54DD-E43CF6ECCE97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09/12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970637-6E9C-E741-E87B-31383A850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25" y="1433289"/>
            <a:ext cx="3780693" cy="23333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F6F9E50-AD35-8FB6-2E1A-C92CE618F126}"/>
              </a:ext>
            </a:extLst>
          </p:cNvPr>
          <p:cNvSpPr txBox="1"/>
          <p:nvPr/>
        </p:nvSpPr>
        <p:spPr>
          <a:xfrm>
            <a:off x="184150" y="3914264"/>
            <a:ext cx="42481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Валаам — остров в северной части Ладожского озера (Сортавальский район Карелии), известный </a:t>
            </a:r>
            <a:r>
              <a:rPr lang="ru-RU" sz="2000" dirty="0" err="1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Спасо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‑Преображенским ставропигиальным мужским монастырём — одним из важнейших духовных центров России.</a:t>
            </a:r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1A8DDA60-4E48-F487-3A71-DDC1A8C1F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6787" y="4013539"/>
            <a:ext cx="3578425" cy="2304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FB3426B-BE4D-AC99-8A3F-416504192231}"/>
              </a:ext>
            </a:extLst>
          </p:cNvPr>
          <p:cNvSpPr txBox="1"/>
          <p:nvPr/>
        </p:nvSpPr>
        <p:spPr>
          <a:xfrm>
            <a:off x="4146084" y="1473935"/>
            <a:ext cx="41021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0" i="0" dirty="0">
                <a:solidFill>
                  <a:srgbClr val="111D1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Кижи — остров в Онежском озере, известный памятниками русского деревянного зодчества; здесь находится музей‑заповедник «Кижи», включённый в Список Всемирного наследия ЮНЕСКО.</a:t>
            </a:r>
            <a:endParaRPr lang="ru-RU" sz="2000" dirty="0">
              <a:solidFill>
                <a:srgbClr val="111D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0661AC01-5213-48A3-03A0-24093BCB3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8350" y="1401259"/>
            <a:ext cx="3578425" cy="239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5">
            <a:extLst>
              <a:ext uri="{FF2B5EF4-FFF2-40B4-BE49-F238E27FC236}">
                <a16:creationId xmlns:a16="http://schemas.microsoft.com/office/drawing/2014/main" id="{6BCDB6EA-DF83-3226-2692-4B32410E3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8834" y="4013878"/>
            <a:ext cx="3823166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D11"/>
                </a:solidFill>
                <a:effectLst/>
                <a:latin typeface="Arial" panose="020B0604020202020204" pitchFamily="34" charset="0"/>
              </a:rPr>
              <a:t>Соловецкий архипелаг включает шесть крупных и более ста мелких островов. Самый большой — Большой Соловецкий, где находятся посёлок Соловецкий и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rgbClr val="111D11"/>
                </a:solidFill>
                <a:effectLst/>
                <a:latin typeface="Arial" panose="020B0604020202020204" pitchFamily="34" charset="0"/>
              </a:rPr>
              <a:t>Спасо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rgbClr val="111D11"/>
                </a:solidFill>
                <a:effectLst/>
                <a:latin typeface="Arial" panose="020B0604020202020204" pitchFamily="34" charset="0"/>
              </a:rPr>
              <a:t>‑Преображенский монастырь.</a:t>
            </a:r>
          </a:p>
        </p:txBody>
      </p:sp>
      <p:sp>
        <p:nvSpPr>
          <p:cNvPr id="10" name="Rectangle 6">
            <a:extLst>
              <a:ext uri="{FF2B5EF4-FFF2-40B4-BE49-F238E27FC236}">
                <a16:creationId xmlns:a16="http://schemas.microsoft.com/office/drawing/2014/main" id="{8EED642B-BFCB-44A2-46EE-6B0E7AB93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4E7103C-A309-D229-57B6-78915C156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786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32C8032-24D1-D042-9C5A-E0469B25CCDF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FD58E-36AC-479B-D47C-6BCF79D7AF35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Карелия в Крымской войне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650766-E744-8825-C413-89769224329C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10/12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1B22218-3556-C74F-64C7-D20FE23AF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54C52190-87F3-3D19-21EA-49CD62BF5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063EB-F388-4C36-105F-B7F876E5A1E5}"/>
              </a:ext>
            </a:extLst>
          </p:cNvPr>
          <p:cNvSpPr txBox="1"/>
          <p:nvPr/>
        </p:nvSpPr>
        <p:spPr>
          <a:xfrm>
            <a:off x="272716" y="2406317"/>
            <a:ext cx="712269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 период Крымской войны (1853–1856 гг.) Карелия служила стратегическим форпостом России — хотя прямых боёв здесь не было, регион стал частью оборонительного рубежа во время Беломорской кампании 1854–1855 годов, когда англо‑французская эскадра пыталась блокировать северные морские пути. Природные особенности Карелии — леса, озёра и труднопроходимая местность — усиливали защиту северных территорий, а местное население помогало гарнизонам противостоять угрозам.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42F16AAB-6E99-1505-DBD8-003C01D98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345" y="2807523"/>
            <a:ext cx="4753939" cy="2367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27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3C9DC8-6DC2-99C4-6041-ACA6FA147DD2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1855EB-815D-4075-93F5-180D99EC25D7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Санкт–Петербург и Карелия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4EC59-622F-72E4-9090-2B4596164E39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11/12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63A964-2D5C-0D15-FC71-14BEA4772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84C66B8A-0A36-097D-B56B-F8F997A23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C8E30D-C1FA-A74D-93AC-5275DBE4ECEC}"/>
              </a:ext>
            </a:extLst>
          </p:cNvPr>
          <p:cNvSpPr txBox="1"/>
          <p:nvPr/>
        </p:nvSpPr>
        <p:spPr>
          <a:xfrm>
            <a:off x="152400" y="2361460"/>
            <a:ext cx="640819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 Санкт‑Петербурга налажены тесные связи с Карелией. До её главных достопримечательностей (Кижи, </a:t>
            </a:r>
            <a:r>
              <a:rPr lang="ru-RU" sz="2000" dirty="0" err="1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Рускеала</a:t>
            </a:r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Валаам, Кивач) всего 300–400 км. Благодаря развитой автомобильной инфраструктуре, а также железнодорожному и водному транспорту жители Санкт-Петербурга могут часто посещать Карелию: ездить на выходные, в короткие туры или семейные путешествия круглый год: летом — на катерах и машинах, зимой — на снегоходах и автобусах.</a:t>
            </a:r>
          </a:p>
        </p:txBody>
      </p:sp>
      <p:pic>
        <p:nvPicPr>
          <p:cNvPr id="16386" name="Picture 2" descr="Горный парк &quot;Рускеала&quot;: где находится и что посмотреть - Главная достопримечательность Карелии Zoon.ru">
            <a:extLst>
              <a:ext uri="{FF2B5EF4-FFF2-40B4-BE49-F238E27FC236}">
                <a16:creationId xmlns:a16="http://schemas.microsoft.com/office/drawing/2014/main" id="{6FCC832B-2705-4B52-46A5-45795AB95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385" y="2361461"/>
            <a:ext cx="4755147" cy="3170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436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BA43CB-4E42-4970-FA8D-5BBBCB0ED583}"/>
              </a:ext>
            </a:extLst>
          </p:cNvPr>
          <p:cNvSpPr/>
          <p:nvPr/>
        </p:nvSpPr>
        <p:spPr>
          <a:xfrm>
            <a:off x="0" y="215900"/>
            <a:ext cx="9436100" cy="965200"/>
          </a:xfrm>
          <a:prstGeom prst="rect">
            <a:avLst/>
          </a:prstGeom>
          <a:solidFill>
            <a:srgbClr val="253F25"/>
          </a:solidFill>
          <a:ln>
            <a:solidFill>
              <a:srgbClr val="253F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5DC599-B76C-E702-A001-A835FDF80813}"/>
              </a:ext>
            </a:extLst>
          </p:cNvPr>
          <p:cNvSpPr txBox="1"/>
          <p:nvPr/>
        </p:nvSpPr>
        <p:spPr>
          <a:xfrm>
            <a:off x="120650" y="344557"/>
            <a:ext cx="8623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>
                <a:solidFill>
                  <a:schemeClr val="bg1"/>
                </a:solidFill>
                <a:latin typeface="Arial Black" panose="020B0A04020102020204" pitchFamily="34" charset="0"/>
              </a:rPr>
              <a:t>Заключение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B12A91-DEC2-7995-3E87-D7F4EEB54D6A}"/>
              </a:ext>
            </a:extLst>
          </p:cNvPr>
          <p:cNvSpPr txBox="1"/>
          <p:nvPr/>
        </p:nvSpPr>
        <p:spPr>
          <a:xfrm>
            <a:off x="11118850" y="215900"/>
            <a:ext cx="952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111D11"/>
                </a:solidFill>
                <a:latin typeface="Arial Black" panose="020B0A04020102020204" pitchFamily="34" charset="0"/>
              </a:rPr>
              <a:t>12/12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6B215EB-D69A-BB47-E38D-461CBAF8B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129ED1-677B-955B-8D89-9FA31B3BA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5003800" cy="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9D66B8-6A91-7A30-4192-95DEF908EF87}"/>
              </a:ext>
            </a:extLst>
          </p:cNvPr>
          <p:cNvSpPr txBox="1"/>
          <p:nvPr/>
        </p:nvSpPr>
        <p:spPr>
          <a:xfrm>
            <a:off x="152400" y="2272807"/>
            <a:ext cx="565871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Карелия – удивительное место, в котором соединяется живописная природа, вкусная традиционная еда и разнообразие мест, куда можно отправиться и получить много эмоций! Здесь каждый найдёт занятие по душе: от пеших и водных походов до экскурсий к историческим памятникам и знакомства с культурой коренных народов.</a:t>
            </a:r>
          </a:p>
          <a:p>
            <a:endParaRPr lang="ru-RU" sz="2000" dirty="0">
              <a:solidFill>
                <a:srgbClr val="111D1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sz="2000" dirty="0">
                <a:solidFill>
                  <a:srgbClr val="111D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Карелия готова подарить незабываемые впечатления!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F904777-5775-9734-2898-3FDB4D3AC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5300" y="2002731"/>
            <a:ext cx="3673892" cy="401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939303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568</Words>
  <Application>Microsoft Office PowerPoint</Application>
  <PresentationFormat>Широкоэкранный</PresentationFormat>
  <Paragraphs>52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Natalia Smith</dc:creator>
  <cp:lastModifiedBy>Natalia Smith</cp:lastModifiedBy>
  <cp:revision>5</cp:revision>
  <dcterms:created xsi:type="dcterms:W3CDTF">2026-04-20T09:41:47Z</dcterms:created>
  <dcterms:modified xsi:type="dcterms:W3CDTF">2026-04-20T17:24:14Z</dcterms:modified>
</cp:coreProperties>
</file>